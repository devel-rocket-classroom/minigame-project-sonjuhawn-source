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iJp9MqnsVJxJ3Cc/gB+HTDVUiS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8288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600"/>
              <a:buFont typeface="Malgun Gothic"/>
              <a:buNone/>
            </a:pPr>
            <a:r>
              <a:rPr b="1" lang="en-US" sz="1600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핵앤 슬래시/로그라이크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100" y="22860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Malgun Gothic"/>
              <a:buNone/>
            </a:pPr>
            <a:r>
              <a:rPr b="1" lang="en-US" sz="56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Wave Rush 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32918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5C0"/>
              </a:buClr>
              <a:buSzPts val="1600"/>
              <a:buFont typeface="Malgun Gothic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1인 제작 프로젝트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57607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발표자: </a:t>
            </a:r>
            <a:r>
              <a:rPr lang="en-US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기맞플밍 8기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손주환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61264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5C0"/>
              </a:buClr>
              <a:buSzPts val="1200"/>
              <a:buFont typeface="Malgun Gothic"/>
              <a:buNone/>
            </a:pPr>
            <a:r>
              <a:rPr lang="en-US" sz="1200">
                <a:solidFill>
                  <a:srgbClr val="B0B5C0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2026/06.08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목차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640080" y="237744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1554480" y="237744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개요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1554480" y="278892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장르 / 기술 스택 / 일정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6217920" y="237744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7132320" y="237744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7132320" y="278892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컨트롤 / 콤보 / 스탯 / FSM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40080" y="35661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554480" y="356616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몬스터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554480" y="397764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일반 / 엘리트 / 원거리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217920" y="35661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132320" y="356616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7132320" y="397764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Behavior Tree / 패턴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40080" y="475488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554480" y="475488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UI · 시스템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554480" y="516636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HUD / 웨이브 / 상점 / 골드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217920" y="475488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7132320" y="475488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회고 · Q&amp;A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132320" y="516636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도전 과제 / 배운 점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lang="en-US"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Wave Rush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01 · PROJECT OVERVIEW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개요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검은사막(BDO) 스타일의 액션 핵 앤 슬래시 · 웨이브 기반 미니게임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57200" y="2468880"/>
            <a:ext cx="3657600" cy="34747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457200" y="2468880"/>
            <a:ext cx="91440" cy="34747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731520" y="265176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장르 · 컨셉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731520" y="3154680"/>
            <a:ext cx="329184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장르: Action Hack &amp; Slash</a:t>
            </a:r>
            <a:endParaRPr sz="13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lang="en-US" sz="13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웨이브 </a:t>
            </a: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5스테이지 + 보스</a:t>
            </a:r>
            <a:endParaRPr sz="13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목표 컨셉: </a:t>
            </a:r>
            <a:r>
              <a:rPr lang="en-US" sz="13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검은사막 캐릭터 조작 + 로그라이크</a:t>
            </a:r>
            <a:endParaRPr sz="13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참고 게임:</a:t>
            </a:r>
            <a:r>
              <a:rPr lang="en-US" sz="13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 검은사막/검은사막m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297680" y="2468880"/>
            <a:ext cx="3657600" cy="34747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4297680" y="2468880"/>
            <a:ext cx="91440" cy="34747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4572000" y="265176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기술 스택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572000" y="3154680"/>
            <a:ext cx="329184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엔진: Unity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Input System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FSM (Player/Monster)</a:t>
            </a:r>
            <a:endParaRPr sz="13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Behavior Tree (Boss)</a:t>
            </a:r>
            <a:endParaRPr sz="13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ScriptableObject 기반</a:t>
            </a:r>
            <a:endParaRPr b="0" i="0" sz="1300" u="none" cap="none" strike="noStrike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lang="en-US" sz="13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Singleton</a:t>
            </a:r>
            <a:endParaRPr sz="13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8138160" y="2468880"/>
            <a:ext cx="3657600" cy="34747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8138160" y="2468880"/>
            <a:ext cx="91440" cy="34747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8412480" y="265176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일정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8412480" y="3154680"/>
            <a:ext cx="329184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W1: 코어 전투 + 몬스터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lang="en-US" sz="13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W</a:t>
            </a: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2: 보스 + 웨이브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W3: 폴리시 + 밸런싱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작업 기간:</a:t>
            </a:r>
            <a:r>
              <a:rPr lang="en-US" sz="13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 3주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빌드 버전: </a:t>
            </a:r>
            <a:r>
              <a:rPr lang="en-US" sz="13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r>
              <a:rPr lang="en-US" sz="13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.0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lang="en-US"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Wave Rush</a:t>
            </a:r>
            <a:endParaRPr sz="10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· CHARACTER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 — 컨트롤 &amp; 콤보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InputSystem 기반 · 콤보 버퍼 · 스태미나 게이트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57200" y="22860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 매핑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57200" y="2743200"/>
            <a:ext cx="5029200" cy="45720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640080" y="27432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LMB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2103120" y="2743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3타 콤보 · 스태미나 +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57200" y="3291840"/>
            <a:ext cx="50292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640080" y="32918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RMB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2103120" y="32918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강공 콤보 · 스태미나 -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57200" y="3840480"/>
            <a:ext cx="5029200" cy="45720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640080" y="384048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Space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2103120" y="38404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회피 (i-frame · 입력 방향)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57200" y="4389120"/>
            <a:ext cx="50292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640080" y="43891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b="1" lang="en-US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E</a:t>
            </a:r>
            <a:r>
              <a:rPr b="1" i="0" lang="en-US" sz="14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2103120" y="43891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2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포션 소모</a:t>
            </a:r>
            <a:r>
              <a:rPr b="0" i="0" lang="en-US" sz="12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943600" y="2286000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설계 핵심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943600" y="2743200"/>
            <a:ext cx="5760600" cy="23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300"/>
              <a:buFont typeface="Malgun Gothic"/>
              <a:buChar char="•"/>
            </a:pPr>
            <a:r>
              <a:rPr b="0" i="0" lang="en-US" sz="13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콤보 버퍼 — 다음 입력 선행 수용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D29"/>
              </a:buClr>
              <a:buSzPts val="1300"/>
              <a:buFont typeface="Malgun Gothic"/>
              <a:buChar char="•"/>
            </a:pPr>
            <a:r>
              <a:rPr b="0" i="0" lang="en-US" sz="13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스태미나 — 라이트 회복 / 헤비·</a:t>
            </a:r>
            <a:r>
              <a:rPr lang="en-US" sz="13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닷지</a:t>
            </a:r>
            <a:r>
              <a:rPr b="0" i="0" lang="en-US" sz="13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 소비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D29"/>
              </a:buClr>
              <a:buSzPts val="1300"/>
              <a:buFont typeface="Malgun Gothic"/>
              <a:buChar char="•"/>
            </a:pPr>
            <a:r>
              <a:rPr b="0" i="0" lang="en-US" sz="13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FSM gating — 상태별 입력 차단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D29"/>
              </a:buClr>
              <a:buSzPts val="1300"/>
              <a:buFont typeface="Malgun Gothic"/>
              <a:buChar char="•"/>
            </a:pPr>
            <a:r>
              <a:rPr lang="en-US" sz="13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StateMachineBehaviour을 사용해 애니메이터에 상태 type, </a:t>
            </a:r>
            <a:endParaRPr sz="1300">
              <a:solidFill>
                <a:srgbClr val="1A1D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45720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 index 부착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lang="en-US"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Wave Rush</a:t>
            </a:r>
            <a:endParaRPr sz="10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· CHARACTER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 — 시스템 구조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457200" y="1554480"/>
            <a:ext cx="1097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FSM · 스탯 · 데미지 계산 · </a:t>
            </a:r>
            <a:r>
              <a:rPr lang="en-US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애니메이션 </a:t>
            </a:r>
            <a:r>
              <a:rPr b="0" i="0" lang="en-US" sz="14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이벤트 기반 히트박스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457200" y="2468880"/>
            <a:ext cx="2743200" cy="34747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457200" y="2468880"/>
            <a:ext cx="91440" cy="34747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731520" y="265176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FSM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731520" y="3154680"/>
            <a:ext cx="237744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Idle / Moving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Attacking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</a:t>
            </a: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eavyAttackin</a:t>
            </a: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Dodging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Damaged / Dead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3383280" y="2468880"/>
            <a:ext cx="2743200" cy="34747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3383280" y="2468880"/>
            <a:ext cx="91440" cy="34747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3657600" y="265176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3657600" y="3154680"/>
            <a:ext cx="237744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STR — </a:t>
            </a: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공격력 증가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AGI — </a:t>
            </a: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이동속도, 공격속도 증가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VIT — </a:t>
            </a: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체력 최대치 증가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 — </a:t>
            </a: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스테미나 최대치 증가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6309360" y="2468880"/>
            <a:ext cx="2560200" cy="347460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6309360" y="2468880"/>
            <a:ext cx="91500" cy="34746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6583680" y="2651760"/>
            <a:ext cx="219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Animation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6583680" y="3154680"/>
            <a:ext cx="21945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anim event 기</a:t>
            </a: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히트박스 on/of</a:t>
            </a: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AnyState→Dodge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anim.Play 강제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8046720" y="640080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05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lang="en-US"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Wave Rush</a:t>
            </a:r>
            <a:endParaRPr sz="10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· MONSTERS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몬스터 — 3종 분류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공통 FSM 베이스 · 타입별 차별화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457200" y="2468880"/>
            <a:ext cx="3657600" cy="34747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457200" y="2468880"/>
            <a:ext cx="3657600" cy="4572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640080" y="246888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r>
              <a:rPr b="1" lang="en-US" sz="16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(Melee)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40080" y="30175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400"/>
              <a:buFont typeface="Malgun Gothic"/>
              <a:buNone/>
            </a:pPr>
            <a:r>
              <a:rPr b="0" i="1" lang="en-US" sz="14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 추격형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822960" y="3657600"/>
            <a:ext cx="292608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822960" y="3657600"/>
            <a:ext cx="29260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[이미지/스크린샷]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640080" y="55778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일반 몬스터(기본공격)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297680" y="2468880"/>
            <a:ext cx="3657600" cy="34747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4297680" y="2468880"/>
            <a:ext cx="3657600" cy="4572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4480560" y="246888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엘리트 (Telegraph)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4480560" y="30175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400"/>
              <a:buFont typeface="Malgun Gothic"/>
              <a:buNone/>
            </a:pPr>
            <a:r>
              <a:rPr b="0" i="1" lang="en-US" sz="14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예고 후 강공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663440" y="3657600"/>
            <a:ext cx="292608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4663440" y="3657600"/>
            <a:ext cx="29260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[이미지/스크린샷]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4480560" y="55778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엘리트 몬스터(차징형 공격)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8138160" y="2468880"/>
            <a:ext cx="3657600" cy="34747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8138160" y="2468880"/>
            <a:ext cx="3657600" cy="4572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8321040" y="246888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원거리 (Ranged)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8321040" y="30175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400"/>
              <a:buFont typeface="Malgun Gothic"/>
              <a:buNone/>
            </a:pPr>
            <a:r>
              <a:rPr b="0" i="1" lang="en-US" sz="14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투사체 + Kiting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8503920" y="3657600"/>
            <a:ext cx="292608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8503920" y="3657600"/>
            <a:ext cx="29260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[이미지/스크린샷]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8321040" y="55778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원거리 몬스터(원거리 공격)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06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lang="en-US"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Wave Rush</a:t>
            </a:r>
            <a:endParaRPr sz="10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48" name="Google Shape;148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950" y="3657600"/>
            <a:ext cx="2926099" cy="182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3450" y="3657600"/>
            <a:ext cx="2926101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03900" y="3657600"/>
            <a:ext cx="2926099" cy="182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· MONSTERS · MELEE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3600"/>
              <a:buFont typeface="Malgun Gothic"/>
              <a:buNone/>
            </a:pPr>
            <a:r>
              <a:rPr b="1" lang="en-US" sz="36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 </a:t>
            </a:r>
            <a:r>
              <a:rPr b="1" i="0" lang="en-US" sz="36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몬스터 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Monster1 · Turnipa · 가장 기본형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57200" y="2286000"/>
            <a:ext cx="5486400" cy="365760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10972800" y="640080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07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lang="en-US"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Wave Rush</a:t>
            </a:r>
            <a:endParaRPr sz="10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62" name="Google Shape;1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" y="2644150"/>
            <a:ext cx="5486399" cy="303276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/>
          <p:nvPr/>
        </p:nvSpPr>
        <p:spPr>
          <a:xfrm>
            <a:off x="6191860" y="2285990"/>
            <a:ext cx="5486400" cy="365760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6191860" y="2285990"/>
            <a:ext cx="91500" cy="36576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6466180" y="2468870"/>
            <a:ext cx="512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lang="en-US" sz="18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 몬스터 특징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6466180" y="2971790"/>
            <a:ext cx="5120700" cy="28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피격 시 attackpower </a:t>
            </a:r>
            <a:r>
              <a:rPr lang="en-US" sz="12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데미지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 몬스터는 즉시 공격</a:t>
            </a:r>
            <a:endParaRPr sz="1200">
              <a:solidFill>
                <a:srgbClr val="1A1D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약간의 공격 쿨타임이 있음</a:t>
            </a:r>
            <a:endParaRPr sz="13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· MONSTERS · ELITE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엘리트 몬스터 — Telegraph 공격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Monster2 · Devil Tree Wither · 예고 모션 후 강공격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457200" y="2286000"/>
            <a:ext cx="6858000" cy="365760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08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lang="en-US"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Wave Rush</a:t>
            </a:r>
            <a:endParaRPr sz="10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78" name="Google Shape;17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86000"/>
            <a:ext cx="6858001" cy="376866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8"/>
          <p:cNvSpPr/>
          <p:nvPr/>
        </p:nvSpPr>
        <p:spPr>
          <a:xfrm>
            <a:off x="7580850" y="2286000"/>
            <a:ext cx="4214400" cy="365760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7580850" y="2286000"/>
            <a:ext cx="70200" cy="36576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7791575" y="2468880"/>
            <a:ext cx="39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lang="en-US" sz="18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엘리트 몬스터</a:t>
            </a:r>
            <a:r>
              <a:rPr b="1" lang="en-US" sz="18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18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7791575" y="2971800"/>
            <a:ext cx="3933600" cy="28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Telegraph 2초 동안 강공 예고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회피 시 캔슬 가능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맞으면 HeavyAttackPower 데미지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광역 공격 이펙트 발생</a:t>
            </a:r>
            <a:endParaRPr sz="1200">
              <a:solidFill>
                <a:srgbClr val="1A1D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1" marL="914400" rtl="0" algn="l">
              <a:spcBef>
                <a:spcPts val="40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Char char="○"/>
            </a:pPr>
            <a:r>
              <a:rPr lang="en-US" sz="12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미리 게임 시작에 로딩해서 최초 시전시 </a:t>
            </a:r>
            <a:endParaRPr sz="1200">
              <a:solidFill>
                <a:srgbClr val="1A1D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45720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렉 방지</a:t>
            </a:r>
            <a:endParaRPr sz="13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· MONSTERS · RANGED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원거리 몬스터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457200" y="1554480"/>
            <a:ext cx="1097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Monster3 · Beez Honey · 거리 유지 + 발사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57200" y="2377440"/>
            <a:ext cx="5669280" cy="365760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457200" y="2377440"/>
            <a:ext cx="91440" cy="36576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731520" y="256032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행동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653235" y="3063250"/>
            <a:ext cx="2419800" cy="28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거리 유지</a:t>
            </a: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</a:t>
            </a: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너무 가까우면 후퇴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적정 거리에서 투사체 발사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애니메이션 이벤트로</a:t>
            </a:r>
            <a:endParaRPr sz="13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발사 타이밍</a:t>
            </a: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설정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6309360" y="2377440"/>
            <a:ext cx="5486400" cy="365760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6309360" y="2377440"/>
            <a:ext cx="91440" cy="36576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6583680" y="256032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투사체 시스템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6583680" y="3063240"/>
            <a:ext cx="5120700" cy="28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MonsterProjectile.cs로 투사체에 부착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Monster 태그 무시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자기 자식 콜라이더 무시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lifetime 5초 자동 파괴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Char char="•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충돌시 폭팔 이펙트 효과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A1D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09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lang="en-US"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Wave Rush</a:t>
            </a:r>
            <a:endParaRPr sz="10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01" name="Google Shape;20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1298" y="2377450"/>
            <a:ext cx="2847372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· BOSS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보스 — Behavior Tree </a:t>
            </a:r>
            <a:r>
              <a:rPr b="1" lang="en-US" sz="36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트리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Custom BT · Blackboard 패턴 · ScriptableObject 데이터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457200" y="2286000"/>
            <a:ext cx="11247120" cy="365760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lang="en-US"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0 </a:t>
            </a: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lang="en-US"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Wave Rush</a:t>
            </a:r>
            <a:endParaRPr sz="10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13" name="Google Shape;21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85999"/>
            <a:ext cx="6782805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0"/>
          <p:cNvSpPr/>
          <p:nvPr/>
        </p:nvSpPr>
        <p:spPr>
          <a:xfrm>
            <a:off x="7340175" y="2331725"/>
            <a:ext cx="4364100" cy="3612000"/>
          </a:xfrm>
          <a:prstGeom prst="rect">
            <a:avLst/>
          </a:prstGeom>
          <a:solidFill>
            <a:srgbClr val="F5F6FA"/>
          </a:solidFill>
          <a:ln cap="flat" cmpd="sng" w="10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75" lIns="75775" spcFirstLastPara="1" rIns="75775" wrap="square" tIns="75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7340175" y="2331725"/>
            <a:ext cx="72900" cy="3612000"/>
          </a:xfrm>
          <a:prstGeom prst="rect">
            <a:avLst/>
          </a:prstGeom>
          <a:solidFill>
            <a:srgbClr val="E63946"/>
          </a:solidFill>
          <a:ln cap="flat" cmpd="sng" w="10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75" lIns="75775" spcFirstLastPara="1" rIns="75775" wrap="square" tIns="75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7558379" y="2512310"/>
            <a:ext cx="40731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492"/>
              <a:buFont typeface="Malgun Gothic"/>
              <a:buNone/>
            </a:pPr>
            <a:r>
              <a:rPr b="1" lang="en-US" sz="18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보스 특징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7558379" y="3008918"/>
            <a:ext cx="4073100" cy="28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Char char="●"/>
            </a:pPr>
            <a:r>
              <a:rPr lang="en-US" sz="12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 프레임 Root부터 평가</a:t>
            </a:r>
            <a:endParaRPr sz="1200">
              <a:solidFill>
                <a:srgbClr val="1A1D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Char char="●"/>
            </a:pPr>
            <a:r>
              <a:rPr lang="en-US" sz="12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Continue 노드 우선 평가 </a:t>
            </a:r>
            <a:endParaRPr sz="1200">
              <a:solidFill>
                <a:srgbClr val="1A1D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Char char="●"/>
            </a:pPr>
            <a:r>
              <a:rPr lang="en-US" sz="12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Blackboard로 상태 공유 </a:t>
            </a:r>
            <a:endParaRPr sz="1200">
              <a:solidFill>
                <a:srgbClr val="1A1D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Char char="●"/>
            </a:pPr>
            <a:r>
              <a:rPr lang="en-US" sz="1200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거리 기반 패턴 결정 </a:t>
            </a:r>
            <a:endParaRPr sz="1200">
              <a:solidFill>
                <a:srgbClr val="1A1D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· BOSS · PATTERNS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보스 — 공격 패턴 3종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거리 기반 패턴 선택 · 쿨다운 관리 · Telegraph 시스템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457200" y="2468880"/>
            <a:ext cx="3657600" cy="34747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457200" y="2468880"/>
            <a:ext cx="3657600" cy="5486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640080" y="246888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근접 공격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640080" y="32004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None/>
            </a:pPr>
            <a:r>
              <a:rPr b="0" i="1" lang="en-US" sz="12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발동 조건: attackRange 이내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640080" y="3657600"/>
            <a:ext cx="34747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lang="en-US" sz="1200">
                <a:latin typeface="Malgun Gothic"/>
                <a:ea typeface="Malgun Gothic"/>
                <a:cs typeface="Malgun Gothic"/>
                <a:sym typeface="Malgun Gothic"/>
              </a:rPr>
              <a:t>· 모션: 즉시 </a:t>
            </a:r>
            <a:endParaRPr sz="12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lang="en-US" sz="1200">
                <a:latin typeface="Malgun Gothic"/>
                <a:ea typeface="Malgun Gothic"/>
                <a:cs typeface="Malgun Gothic"/>
                <a:sym typeface="Malgun Gothic"/>
              </a:rPr>
              <a:t>· 데미지: 20 </a:t>
            </a:r>
            <a:endParaRPr sz="12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lang="en-US" sz="1200">
                <a:latin typeface="Malgun Gothic"/>
                <a:ea typeface="Malgun Gothic"/>
                <a:cs typeface="Malgun Gothic"/>
                <a:sym typeface="Malgun Gothic"/>
              </a:rPr>
              <a:t>· 쿨다운: 3초</a:t>
            </a:r>
            <a:endParaRPr sz="12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lang="en-US" sz="1200">
                <a:latin typeface="Malgun Gothic"/>
                <a:ea typeface="Malgun Gothic"/>
                <a:cs typeface="Malgun Gothic"/>
                <a:sym typeface="Malgun Gothic"/>
              </a:rPr>
              <a:t>· 명중 판정: 애니메이션 이벤트 </a:t>
            </a:r>
            <a:endParaRPr sz="12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lang="en-US" sz="1200">
                <a:latin typeface="Malgun Gothic"/>
                <a:ea typeface="Malgun Gothic"/>
                <a:cs typeface="Malgun Gothic"/>
                <a:sym typeface="Malgun Gothic"/>
              </a:rPr>
              <a:t> · 거리 재확인 후 데미지 적용 </a:t>
            </a:r>
            <a:endParaRPr b="0" i="0" sz="12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4297680" y="2468880"/>
            <a:ext cx="3657600" cy="34747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4297680" y="2468880"/>
            <a:ext cx="3657600" cy="5486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4480560" y="246888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차징 (Charge)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4480560" y="32004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None/>
            </a:pPr>
            <a:r>
              <a:rPr b="0" i="1" lang="en-US" sz="12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발동 조건: chargeRange 이상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4480560" y="3657600"/>
            <a:ext cx="34747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lang="en-US" sz="1200">
                <a:latin typeface="Malgun Gothic"/>
                <a:ea typeface="Malgun Gothic"/>
                <a:cs typeface="Malgun Gothic"/>
                <a:sym typeface="Malgun Gothic"/>
              </a:rPr>
              <a:t>· Telegraph 2초 (예고 모션) </a:t>
            </a:r>
            <a:endParaRPr sz="12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lang="en-US" sz="1200">
                <a:latin typeface="Malgun Gothic"/>
                <a:ea typeface="Malgun Gothic"/>
                <a:cs typeface="Malgun Gothic"/>
                <a:sym typeface="Malgun Gothic"/>
              </a:rPr>
              <a:t>· 돌진 0.8초 / 속도 12 · 데미지: 30</a:t>
            </a:r>
            <a:endParaRPr sz="12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lang="en-US" sz="1200">
                <a:latin typeface="Malgun Gothic"/>
                <a:ea typeface="Malgun Gothic"/>
                <a:cs typeface="Malgun Gothic"/>
                <a:sym typeface="Malgun Gothic"/>
              </a:rPr>
              <a:t>· 명중 판정: OnTriggerEnter</a:t>
            </a:r>
            <a:endParaRPr sz="12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lang="en-US" sz="1200">
                <a:latin typeface="Malgun Gothic"/>
                <a:ea typeface="Malgun Gothic"/>
                <a:cs typeface="Malgun Gothic"/>
                <a:sym typeface="Malgun Gothic"/>
              </a:rPr>
              <a:t>· 쿨다운: 2초 </a:t>
            </a:r>
            <a:endParaRPr b="0" i="0" sz="12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8138160" y="2468880"/>
            <a:ext cx="3657600" cy="34747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8138160" y="2468880"/>
            <a:ext cx="3657600" cy="5486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8321040" y="246888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원거리 투사체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8321040" y="32004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200"/>
              <a:buFont typeface="Malgun Gothic"/>
              <a:buNone/>
            </a:pPr>
            <a:r>
              <a:rPr b="0" i="1" lang="en-US" sz="12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발동 조건: rangedRange 이내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8321040" y="3657600"/>
            <a:ext cx="34747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lang="en-US" sz="1200">
                <a:latin typeface="Malgun Gothic"/>
                <a:ea typeface="Malgun Gothic"/>
                <a:cs typeface="Malgun Gothic"/>
                <a:sym typeface="Malgun Gothic"/>
              </a:rPr>
              <a:t>· 애니메이션 이벤트: 발사 함수 호출 </a:t>
            </a:r>
            <a:endParaRPr sz="12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lang="en-US" sz="1200">
                <a:latin typeface="Malgun Gothic"/>
                <a:ea typeface="Malgun Gothic"/>
                <a:cs typeface="Malgun Gothic"/>
                <a:sym typeface="Malgun Gothic"/>
              </a:rPr>
              <a:t>· 투사체 속도: 10 </a:t>
            </a:r>
            <a:endParaRPr sz="12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lang="en-US" sz="1200">
                <a:latin typeface="Malgun Gothic"/>
                <a:ea typeface="Malgun Gothic"/>
                <a:cs typeface="Malgun Gothic"/>
                <a:sym typeface="Malgun Gothic"/>
              </a:rPr>
              <a:t>· 데미지: 20</a:t>
            </a:r>
            <a:endParaRPr sz="12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lang="en-US" sz="1200">
                <a:latin typeface="Malgun Gothic"/>
                <a:ea typeface="Malgun Gothic"/>
                <a:cs typeface="Malgun Gothic"/>
                <a:sym typeface="Malgun Gothic"/>
              </a:rPr>
              <a:t>· 오브젝트로 설정한 위치에서 발사 </a:t>
            </a:r>
            <a:endParaRPr sz="12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Malgun Gothic"/>
              <a:buNone/>
            </a:pPr>
            <a:r>
              <a:rPr lang="en-US" sz="1200">
                <a:latin typeface="Malgun Gothic"/>
                <a:ea typeface="Malgun Gothic"/>
                <a:cs typeface="Malgun Gothic"/>
                <a:sym typeface="Malgun Gothic"/>
              </a:rPr>
              <a:t>· 쿨다운: 2초 </a:t>
            </a:r>
            <a:endParaRPr b="0" i="0" sz="12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lang="en-US"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lang="en-US"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Wave Rush</a:t>
            </a:r>
            <a:endParaRPr sz="10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05 · UI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UI — HUD &amp; 패널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HUD · 일시정지 · 상점 · 스탯 분배 · PauseManager 중앙집중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457200" y="2468880"/>
            <a:ext cx="3657600" cy="34747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"/>
          <p:cNvSpPr/>
          <p:nvPr/>
        </p:nvSpPr>
        <p:spPr>
          <a:xfrm>
            <a:off x="457200" y="2468880"/>
            <a:ext cx="91440" cy="34747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"/>
          <p:cNvSpPr/>
          <p:nvPr/>
        </p:nvSpPr>
        <p:spPr>
          <a:xfrm>
            <a:off x="731520" y="265176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HUD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731520" y="3154680"/>
            <a:ext cx="32919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Hp</a:t>
            </a: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바/스테미나 바</a:t>
            </a:r>
            <a:endParaRPr sz="13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-health/stamina system 구독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경험치 바/골드 텍스트 </a:t>
            </a:r>
            <a:endParaRPr sz="13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goldsystem/experience system 구독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Potion</a:t>
            </a: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UI</a:t>
            </a:r>
            <a:endParaRPr sz="13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Potionsystem 총 물약 갯수/남은 갯수 쿨타임 표시</a:t>
            </a:r>
            <a:endParaRPr sz="13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BossHpBa</a:t>
            </a: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</a:t>
            </a:r>
            <a:endParaRPr sz="13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BossHealth에서 최초 데미지 피격시 활성화</a:t>
            </a:r>
            <a:endParaRPr sz="13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[ToastManager]</a:t>
            </a:r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t/>
            </a:r>
            <a:endParaRPr sz="13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4297680" y="2468880"/>
            <a:ext cx="3657600" cy="34747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2"/>
          <p:cNvSpPr/>
          <p:nvPr/>
        </p:nvSpPr>
        <p:spPr>
          <a:xfrm>
            <a:off x="4297680" y="2468880"/>
            <a:ext cx="91440" cy="34747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2"/>
          <p:cNvSpPr/>
          <p:nvPr/>
        </p:nvSpPr>
        <p:spPr>
          <a:xfrm>
            <a:off x="4572000" y="265176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Panel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4572000" y="3154680"/>
            <a:ext cx="32919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StartPanel </a:t>
            </a:r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</a:t>
            </a: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메인(</a:t>
            </a: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시작</a:t>
            </a: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 메뉴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PauseUI (ESC)</a:t>
            </a:r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-일시정지 창</a:t>
            </a:r>
            <a:endParaRPr sz="13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StatDistributionPanel</a:t>
            </a:r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-스탯분배창 - 레벨업 시 자동 오픈</a:t>
            </a:r>
            <a:endParaRPr sz="13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ShopUI</a:t>
            </a:r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-웨이브 클리어 시 자동 오픈</a:t>
            </a:r>
            <a:endParaRPr sz="13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ClearUI / RestartPanel</a:t>
            </a:r>
            <a:endParaRPr b="0"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-클리어 시/ hp0이 될시 이벤트 실행</a:t>
            </a:r>
            <a:endParaRPr sz="13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8138160" y="2468880"/>
            <a:ext cx="3657600" cy="34747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"/>
          <p:cNvSpPr/>
          <p:nvPr/>
        </p:nvSpPr>
        <p:spPr>
          <a:xfrm>
            <a:off x="8138160" y="2468880"/>
            <a:ext cx="91440" cy="34747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"/>
          <p:cNvSpPr/>
          <p:nvPr/>
        </p:nvSpPr>
        <p:spPr>
          <a:xfrm>
            <a:off x="8412480" y="265176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PauseManager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8412480" y="3154680"/>
            <a:ext cx="329184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[pauseCount 기반 다중 UI]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[ApplyCursor — 자동 제어]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[모든 패널 통합]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[다중 패널 닫기 순서 안전]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[게임상태 전환 예외 처리]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12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lang="en-US"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Wave Rush</a:t>
            </a:r>
            <a:endParaRPr sz="10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3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05 · SYSTEM · WAVE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— 웨이브 관리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WaveData SO · 5단계 흐름 · 보스 스폰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457200" y="2468880"/>
            <a:ext cx="210312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457200" y="246888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Prep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2560320" y="2468880"/>
            <a:ext cx="182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2743200" y="2468880"/>
            <a:ext cx="210312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"/>
          <p:cNvSpPr/>
          <p:nvPr/>
        </p:nvSpPr>
        <p:spPr>
          <a:xfrm>
            <a:off x="2743200" y="246888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Spawn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4846320" y="2468880"/>
            <a:ext cx="182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5029200" y="2468880"/>
            <a:ext cx="210312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"/>
          <p:cNvSpPr/>
          <p:nvPr/>
        </p:nvSpPr>
        <p:spPr>
          <a:xfrm>
            <a:off x="5029200" y="246888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Fight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7132320" y="2468880"/>
            <a:ext cx="182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7315200" y="2468880"/>
            <a:ext cx="210312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3"/>
          <p:cNvSpPr/>
          <p:nvPr/>
        </p:nvSpPr>
        <p:spPr>
          <a:xfrm>
            <a:off x="7315200" y="246888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Clear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9418320" y="2468880"/>
            <a:ext cx="182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9601200" y="2468880"/>
            <a:ext cx="210312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3"/>
          <p:cNvSpPr/>
          <p:nvPr/>
        </p:nvSpPr>
        <p:spPr>
          <a:xfrm>
            <a:off x="9601200" y="246888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457200" y="3840480"/>
            <a:ext cx="5577840" cy="21031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"/>
          <p:cNvSpPr/>
          <p:nvPr/>
        </p:nvSpPr>
        <p:spPr>
          <a:xfrm>
            <a:off x="457200" y="3840480"/>
            <a:ext cx="91440" cy="21031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731520" y="402336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WaveData (SO)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731520" y="4526280"/>
            <a:ext cx="52120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spawnEntries</a:t>
            </a:r>
            <a:r>
              <a:rPr lang="en-US"/>
              <a:t> - </a:t>
            </a: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몬스터</a:t>
            </a: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종류</a:t>
            </a: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+ </a:t>
            </a: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몬스터 수만큼 순서대로 생성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몬스터 소환 딜레이 조정 가능</a:t>
            </a:r>
            <a:endParaRPr sz="13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마지막 웨이브 데이터 SO에 보스 프리팹 넣으면</a:t>
            </a:r>
            <a:endParaRPr sz="13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클리어 후 보스 웨이브 설정 가능 </a:t>
            </a:r>
            <a:endParaRPr sz="13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6217920" y="3840480"/>
            <a:ext cx="5577840" cy="21031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3"/>
          <p:cNvSpPr/>
          <p:nvPr/>
        </p:nvSpPr>
        <p:spPr>
          <a:xfrm>
            <a:off x="6217920" y="3840480"/>
            <a:ext cx="91440" cy="21031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"/>
          <p:cNvSpPr/>
          <p:nvPr/>
        </p:nvSpPr>
        <p:spPr>
          <a:xfrm>
            <a:off x="6492240" y="402336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이벤트 흐름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6492240" y="4526280"/>
            <a:ext cx="52120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OnWaveStart / OnWaveCleared]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[OnAliveCountChanged]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[OnAllWavesCleared → 보스 스폰]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[BossHealth.OnDeath → 클리어]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13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lang="en-US"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Wave Rush</a:t>
            </a:r>
            <a:endParaRPr sz="10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4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05 · SYSTEM · ECONOMY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— 경제 &amp; 진행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Gold · EXP · Potion · Shop · 레벨업 곡선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457200" y="2468880"/>
            <a:ext cx="2743200" cy="34747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4"/>
          <p:cNvSpPr/>
          <p:nvPr/>
        </p:nvSpPr>
        <p:spPr>
          <a:xfrm>
            <a:off x="457200" y="2468880"/>
            <a:ext cx="91440" cy="34747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4"/>
          <p:cNvSpPr/>
          <p:nvPr/>
        </p:nvSpPr>
        <p:spPr>
          <a:xfrm>
            <a:off x="731520" y="265176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Gold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731520" y="3154680"/>
            <a:ext cx="237744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몬스터 처치 시 획득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Monster별 차등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</a:t>
            </a: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점에서 사용가능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3383280" y="2468880"/>
            <a:ext cx="2743200" cy="34747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4"/>
          <p:cNvSpPr/>
          <p:nvPr/>
        </p:nvSpPr>
        <p:spPr>
          <a:xfrm>
            <a:off x="3383280" y="2468880"/>
            <a:ext cx="91440" cy="34747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4"/>
          <p:cNvSpPr/>
          <p:nvPr/>
        </p:nvSpPr>
        <p:spPr>
          <a:xfrm>
            <a:off x="3657600" y="265176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EXP &amp; Level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3657600" y="3154680"/>
            <a:ext cx="237744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요구 경험치량: 1업당 +10</a:t>
            </a:r>
            <a:endParaRPr sz="13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(기본 50)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레벨업당 스탯 분배:</a:t>
            </a: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+2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STR/AGI/VIT/STA 분배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레벨업 → 스탯 UI </a:t>
            </a: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오픈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6309360" y="2468880"/>
            <a:ext cx="2743200" cy="34747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4"/>
          <p:cNvSpPr/>
          <p:nvPr/>
        </p:nvSpPr>
        <p:spPr>
          <a:xfrm>
            <a:off x="6309360" y="2468880"/>
            <a:ext cx="91440" cy="34747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4"/>
          <p:cNvSpPr/>
          <p:nvPr/>
        </p:nvSpPr>
        <p:spPr>
          <a:xfrm>
            <a:off x="6583680" y="265176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Potion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6583680" y="3154680"/>
            <a:ext cx="237744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 2개 소지 -&gt; 상점에서 최대치 추가 가능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포션은 최대 HP의 30퍼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쿨타임 </a:t>
            </a: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웨이브 클리어 시</a:t>
            </a: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최대 갯수만큼 복구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9235440" y="2468880"/>
            <a:ext cx="2560320" cy="3474720"/>
          </a:xfrm>
          <a:prstGeom prst="rect">
            <a:avLst/>
          </a:prstGeom>
          <a:solidFill>
            <a:srgbClr val="F5F6F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4"/>
          <p:cNvSpPr/>
          <p:nvPr/>
        </p:nvSpPr>
        <p:spPr>
          <a:xfrm>
            <a:off x="9235440" y="2468880"/>
            <a:ext cx="91440" cy="34747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4"/>
          <p:cNvSpPr/>
          <p:nvPr/>
        </p:nvSpPr>
        <p:spPr>
          <a:xfrm>
            <a:off x="9509760" y="265176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D29"/>
                </a:solidFill>
                <a:latin typeface="Malgun Gothic"/>
                <a:ea typeface="Malgun Gothic"/>
                <a:cs typeface="Malgun Gothic"/>
                <a:sym typeface="Malgun Gothic"/>
              </a:rPr>
              <a:t>Shop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9509760" y="3154680"/>
            <a:ext cx="219456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latin typeface="Malgun Gothic"/>
                <a:ea typeface="Malgun Gothic"/>
                <a:cs typeface="Malgun Gothic"/>
                <a:sym typeface="Malgun Gothic"/>
              </a:rPr>
              <a:t>포션 +1: 15g</a:t>
            </a:r>
            <a:endParaRPr b="0" i="0" sz="1300" u="none" cap="none" strike="noStrike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latin typeface="Malgun Gothic"/>
                <a:ea typeface="Malgun Gothic"/>
                <a:cs typeface="Malgun Gothic"/>
                <a:sym typeface="Malgun Gothic"/>
              </a:rPr>
              <a:t>HP 회복: 10g</a:t>
            </a:r>
            <a:endParaRPr b="0" i="0" sz="1300" u="none" cap="none" strike="noStrike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latin typeface="Malgun Gothic"/>
                <a:ea typeface="Malgun Gothic"/>
                <a:cs typeface="Malgun Gothic"/>
                <a:sym typeface="Malgun Gothic"/>
              </a:rPr>
              <a:t>랜덤 스탯: 4g</a:t>
            </a:r>
            <a:endParaRPr b="0" i="0" sz="1300" u="none" cap="none" strike="noStrike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Malgun Gothic"/>
              <a:buNone/>
            </a:pPr>
            <a:r>
              <a:t/>
            </a:r>
            <a:endParaRPr b="0" i="0" sz="13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14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lang="en-US"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Wave Rush</a:t>
            </a:r>
            <a:endParaRPr sz="1000">
              <a:solidFill>
                <a:srgbClr val="6B72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9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5"/>
          <p:cNvSpPr/>
          <p:nvPr/>
        </p:nvSpPr>
        <p:spPr>
          <a:xfrm>
            <a:off x="457200" y="4846320"/>
            <a:ext cx="1371600" cy="73152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5"/>
          <p:cNvSpPr/>
          <p:nvPr/>
        </p:nvSpPr>
        <p:spPr>
          <a:xfrm>
            <a:off x="457200" y="5486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Malgun Gothic"/>
                <a:ea typeface="Malgun Gothic"/>
                <a:cs typeface="Malgun Gothic"/>
                <a:sym typeface="Malgun Gothic"/>
              </a:rPr>
              <a:t>WRAP 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/>
          <p:nvPr/>
        </p:nvSpPr>
        <p:spPr>
          <a:xfrm>
            <a:off x="723675" y="1005850"/>
            <a:ext cx="10706400" cy="3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Malgun Gothic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Q&amp;A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457200" y="51206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Thank you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5C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2026-06-07T07:39:05Z</dcterms:created>
  <dc:creator>손주환</dc:creator>
</cp:coreProperties>
</file>